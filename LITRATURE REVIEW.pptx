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4F39-42E2-417C-E9D0-92BCA9DC8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04789-6042-C514-F049-E7A4E519B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C5B2-57EF-A1C0-C0D3-11458541D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5124-C50C-3101-98D3-3B09D824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47C9-C623-6ED4-F7BD-CDB4746D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0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BECC-B577-1F27-0C77-30ABA93F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12FF-55F5-F1A4-5E1A-FB858DA40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1A892-1BC4-8AE7-BD41-BE81E46F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6466A-B6F1-E497-BD57-00DC0F3F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E877D-0FD6-A322-53EC-883AA935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18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DBDD-7FD8-192B-B0FE-611242C3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4A10-F629-2828-446F-F4A9F68F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55672-BCE7-242F-B494-8F6EFFC2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3619E-0365-E68D-CBCA-9098642A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350C6-8960-7A10-7E0B-9D0ACDAE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1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DEAC-3AB9-813B-613C-EC940890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8747D-4DF3-8E7B-B51C-35E817867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5F558-414E-1C03-B048-5FA9F8500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98296-0E86-2666-7B44-93FDE12B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DF4B1-5098-D47C-D72E-407C2AC3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02035-36D8-008C-4F69-502D0396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9A86-CD93-721D-D07C-1C2718DE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3A639-C8E7-C93F-9DBA-1704796E7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A357F-7826-8568-D581-2A427D2EB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6AE12-BF0D-CEED-C8C5-3A257DA75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25FFA-A414-8E32-2BCD-70DCDC75B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BDD4F-D37E-BD22-4B86-0115D182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D1C1A-7958-1096-E696-B3480EDE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7946E-8993-A60D-A4D1-2CF7169F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B39C-02A7-8C2B-40F7-B18E9FCD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C378F-1975-D8B0-3174-D4909945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28D77-84A2-1B04-D9C7-E45A1CC9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EAD09B-95F6-9EE3-1E5A-2EC8E62B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0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16F84-C74C-8FCE-3DF7-14AD47E7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2BD49-9D75-EF45-2663-4069A4CF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F6710-62D7-1DB4-2070-754914F7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73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8482-06A3-53FE-F1C8-4EE769CC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44654-4E06-AD52-C6F0-A19969D9C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0A85B-DC2C-2577-DECF-98FE8B2F0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F7248-62FE-7F09-D838-40592EC5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6EA67-59C3-9D63-81DA-1EDAF034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F8346-6840-CD11-FAF5-5064153D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1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0810-6AED-C5DE-AB1E-C1CDE639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D41CD-CF73-FDE2-CD87-1370D6FA3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75068-9B0C-70FF-810F-C79950F41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CC49-4E8E-23EF-A739-F8871E40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C7094-6778-1063-8412-4DE45EF2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EBE05-EE52-F4DC-7C3D-F5E7BC84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86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CC8D-62DE-62E6-3A4A-D6B131741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FFFD8-1263-851A-9D67-78C907814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992BE-7976-6F39-8F27-8C44C07A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89803-01A7-E1A0-E14D-7DA447EE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5088F-E87E-9554-FA27-4E24FE16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1CC220-5174-A3B0-F3AF-FCC3BF638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E3E1E-0EB3-4AEA-41AB-BE0FEED8E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8BE3-A35C-944A-CF53-CF5CFC57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EF7BA-04EA-907A-A6E6-ECEBBD9C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CD1F-5261-40A3-65D2-FA80BDD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67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B619F1-D338-5C3A-3296-4CA7CC73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CAB30-6613-F9B8-9819-3DF1AF797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F05F4-3EBB-C2F0-82AC-4A39E1775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E9101-3B81-44EB-862E-308B73A2B3D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81EE-A222-7953-FB3E-06933100A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3FC3-AB67-61C9-93DF-27E2CECF4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0A3D5-99F8-4107-9BFE-3B0D63AC9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58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D55B4-4266-2870-3EEB-7FF57AA95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Literature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7670F-3865-2088-408B-A4C345EB6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811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B1D0-01DC-059A-5594-3615BA06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Related Work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499D14-320D-AC4E-9275-83932EF01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608491"/>
              </p:ext>
            </p:extLst>
          </p:nvPr>
        </p:nvGraphicFramePr>
        <p:xfrm>
          <a:off x="821267" y="1825625"/>
          <a:ext cx="10532533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053">
                  <a:extLst>
                    <a:ext uri="{9D8B030D-6E8A-4147-A177-3AD203B41FA5}">
                      <a16:colId xmlns:a16="http://schemas.microsoft.com/office/drawing/2014/main" val="254830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933957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3608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58891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3240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Author’s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Techniques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Matrices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Drawback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30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Ghulam Mujtaba Shaikh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Ensemble classifiers (SVM, RF, NB)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Limited generalization across multilingual datasets.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35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Aziida Nanyonga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Learning (CNN, LSTM)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98.2%, Precision = 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cost for real-time deployment.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94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Naol Bakala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NLP and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engineering needed for domain adaptation.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75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94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4599-2CA9-1044-E44E-3F2D992A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7045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8BBA14-1137-466B-7E47-3DDA17101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0253220"/>
              </p:ext>
            </p:extLst>
          </p:nvPr>
        </p:nvGraphicFramePr>
        <p:xfrm>
          <a:off x="838200" y="833120"/>
          <a:ext cx="10515600" cy="529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618809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31568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736003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504249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6367837"/>
                    </a:ext>
                  </a:extLst>
                </a:gridCol>
              </a:tblGrid>
              <a:tr h="787900">
                <a:tc>
                  <a:txBody>
                    <a:bodyPr/>
                    <a:lstStyle/>
                    <a:p>
                      <a:r>
                        <a:rPr lang="en-IN" dirty="0"/>
                        <a:t>Sno.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Author’s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Techniques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Matrices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Drawback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937378"/>
                  </a:ext>
                </a:extLst>
              </a:tr>
              <a:tr h="1125571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 Krishnaveni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Ensemble and Feature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Scalability issues with large email corpora.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036198"/>
                  </a:ext>
                </a:extLst>
              </a:tr>
              <a:tr h="1125571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Pedro Antonio Gutiérrez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ML (SVM and BERT)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99.1%, F1 = 98.9%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GPU acceleration for training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64595"/>
                  </a:ext>
                </a:extLst>
              </a:tr>
              <a:tr h="1125571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Andronicus Akinyelu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Naive Bayes, Decision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Struggles with ambiguous or short emails.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113370"/>
                  </a:ext>
                </a:extLst>
              </a:tr>
              <a:tr h="1125571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Umer Ahmed Butt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SVM, NB,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 99.62% (SVM), 97% (NB), 98% (LSTM)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Suggests merging techniques for better results.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00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00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7EB8-6E33-9D46-4605-471BD9F87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316480"/>
            <a:ext cx="10515600" cy="8064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468F41-8644-0851-24FC-E8684971A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002941"/>
              </p:ext>
            </p:extLst>
          </p:nvPr>
        </p:nvGraphicFramePr>
        <p:xfrm>
          <a:off x="838200" y="1056640"/>
          <a:ext cx="10515600" cy="456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672354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629612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764461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265977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32294865"/>
                    </a:ext>
                  </a:extLst>
                </a:gridCol>
              </a:tblGrid>
              <a:tr h="939202">
                <a:tc>
                  <a:txBody>
                    <a:bodyPr/>
                    <a:lstStyle/>
                    <a:p>
                      <a:r>
                        <a:rPr lang="en-IN" dirty="0"/>
                        <a:t>Sno.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Author’s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Techniques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Matrices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Drawback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865132"/>
                  </a:ext>
                </a:extLst>
              </a:tr>
              <a:tr h="1341718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Isra’a Abdul Nabi &amp; Qussai Yaseen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BERT and 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 =98.67%, F1 = 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by GPU memory (sequence length = 300).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86431"/>
                  </a:ext>
                </a:extLst>
              </a:tr>
              <a:tr h="1341718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Khalid Iqbal &amp; Muhammad Khan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SVM, 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Accuracy = 98% (SVM), 98.06% (ANN)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 size and feature set could be improved.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55564"/>
                  </a:ext>
                </a:extLst>
              </a:tr>
              <a:tr h="939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Maria Lopez &amp; Chen Wang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CNN and Attention Mechanisms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 = 97.9%, Precision = 97.5%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Sensitive to noisy email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920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82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D582-DEAF-447D-B289-08AC1BD4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11195-805B-C944-AFA1-B795CD1F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Shaikh, G. M., Shuib, L., Khan, M. S., &amp; Rajandram, R. (2019). Data fusion and multiple classifier systems for human activity detection and health monitoring: Review and open research directions.</a:t>
            </a:r>
          </a:p>
          <a:p>
            <a:pPr marL="514350" indent="-514350">
              <a:buAutoNum type="arabicPeriod"/>
            </a:pPr>
            <a:r>
              <a:rPr lang="en-IN" dirty="0"/>
              <a:t>Nanyonga, A., &amp; Wild, G. (2025). Utilizing AI for aviation post-accident analysis classification.</a:t>
            </a:r>
          </a:p>
          <a:p>
            <a:pPr marL="514350" indent="-514350">
              <a:buAutoNum type="arabicPeriod"/>
            </a:pPr>
            <a:r>
              <a:rPr lang="en-US" dirty="0"/>
              <a:t>Bakala, N. (2019). Information retrieval system by using vector space model. International Journal of Scientific &amp; Technology Research, 1562–1563.</a:t>
            </a:r>
          </a:p>
          <a:p>
            <a:pPr marL="514350" indent="-514350">
              <a:buAutoNum type="arabicPeriod"/>
            </a:pPr>
            <a:r>
              <a:rPr lang="en-IN" dirty="0"/>
              <a:t>Krishnaveni, S., Sivamohan, S., Sridhar, S. S., &amp; Prabakaran, S. (2021). Efficient feature selection and classification through ensemble method for network intrusion detection on cloud computing.</a:t>
            </a:r>
          </a:p>
        </p:txBody>
      </p:sp>
    </p:spTree>
    <p:extLst>
      <p:ext uri="{BB962C8B-B14F-4D97-AF65-F5344CB8AC3E}">
        <p14:creationId xmlns:p14="http://schemas.microsoft.com/office/powerpoint/2010/main" val="1216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62556D-9CBF-C4EA-BF95-7AE93BF6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5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75370A-4341-37B9-F3F7-FE31F85BD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IN" dirty="0"/>
              <a:t>Gutiérrez, P. A., Cano, J. R., Krawczyk, B., Woźniak, M., &amp; García, S. (2018). Monotonic classification: An overview on algorithms, performance measures and data sets. </a:t>
            </a:r>
          </a:p>
          <a:p>
            <a:pPr marL="514350" indent="-514350">
              <a:buAutoNum type="arabicPeriod" startAt="5"/>
            </a:pPr>
            <a:r>
              <a:rPr lang="en-US" dirty="0"/>
              <a:t>Akinyelu, A. A., &amp; Adewumi, A. O. (2014). Classification of phishing email using random forest machine learning technique. Journal of Applied Mathematics, 2014, Article ID 425731.</a:t>
            </a:r>
          </a:p>
          <a:p>
            <a:pPr marL="514350" indent="-514350">
              <a:buAutoNum type="arabicPeriod" startAt="5"/>
            </a:pPr>
            <a:r>
              <a:rPr lang="en-US" dirty="0"/>
              <a:t>Butt, U. A., et al. (2022). Comparative analysis of machine learning techniques for phishing email detection. International Journal of Advanced Computer Science and Applications, 45–52.</a:t>
            </a:r>
          </a:p>
          <a:p>
            <a:pPr marL="514350" indent="-514350">
              <a:buAutoNum type="arabicPeriod" startAt="5"/>
            </a:pPr>
            <a:r>
              <a:rPr lang="en-US" dirty="0"/>
              <a:t>Abdul Nabi, I., &amp; Yaseen, Q. (2023). Spam email detection using BERT and HAM. Journal of Computer Science and Technology, 38(2), 123–134.</a:t>
            </a:r>
          </a:p>
          <a:p>
            <a:pPr marL="514350" indent="-514350">
              <a:buAutoNum type="arabicPeriod" startAt="5"/>
            </a:pPr>
            <a:r>
              <a:rPr lang="en-US" dirty="0"/>
              <a:t>Iqbal, K., &amp; Khan, M. S. (2022). Email classification analysis using machine learning techniques. Applied Computing and Informatics.</a:t>
            </a:r>
          </a:p>
          <a:p>
            <a:pPr marL="514350" indent="-514350">
              <a:buAutoNum type="arabicPeriod" startAt="5"/>
            </a:pPr>
            <a:r>
              <a:rPr lang="en-US" dirty="0"/>
              <a:t>Lopez, M., &amp; Wang, C. (2025). CNN with attention mechanisms for email topic classification.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32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617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Literature Review</vt:lpstr>
      <vt:lpstr>Related Work 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SINGH</dc:creator>
  <cp:lastModifiedBy>AAYUSH SINGH</cp:lastModifiedBy>
  <cp:revision>1</cp:revision>
  <dcterms:created xsi:type="dcterms:W3CDTF">2025-11-04T13:48:40Z</dcterms:created>
  <dcterms:modified xsi:type="dcterms:W3CDTF">2025-11-04T18:27:11Z</dcterms:modified>
</cp:coreProperties>
</file>